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E94560">
              <a:alpha val="8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E94560">
              <a:alpha val="9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B.Sc. PROJECT DEFENSE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005840"/>
            <a:ext cx="594360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Evolution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Deep Neural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for Intrusion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System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40080" y="3337560"/>
            <a:ext cx="2286000" cy="457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9" name="Text 6"/>
          <p:cNvSpPr/>
          <p:nvPr/>
        </p:nvSpPr>
        <p:spPr>
          <a:xfrm>
            <a:off x="640080" y="3566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Florish Adekogbe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3886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 No: 190805025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4160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Science, Faculty of Science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43891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Lagos  |  Supervisor: Dr. B. A. Sawyerr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94560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1097280" cy="36576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5" name="Shape 3"/>
          <p:cNvSpPr/>
          <p:nvPr/>
        </p:nvSpPr>
        <p:spPr>
          <a:xfrm>
            <a:off x="502920" y="1051560"/>
            <a:ext cx="1874520" cy="155448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1874520" cy="457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7" name="Text 5"/>
          <p:cNvSpPr/>
          <p:nvPr/>
        </p:nvSpPr>
        <p:spPr>
          <a:xfrm>
            <a:off x="640080" y="12344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21615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69164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05740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motivation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6040" y="1051560"/>
            <a:ext cx="1874520" cy="155448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06040" y="1051560"/>
            <a:ext cx="1874520" cy="457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3" name="Text 10"/>
          <p:cNvSpPr/>
          <p:nvPr/>
        </p:nvSpPr>
        <p:spPr>
          <a:xfrm>
            <a:off x="2743200" y="12344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21615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43200" y="169164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743200" y="205740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identified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09160" y="1051560"/>
            <a:ext cx="1874520" cy="155448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09160" y="1051560"/>
            <a:ext cx="1874520" cy="457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9" name="Text 15"/>
          <p:cNvSpPr/>
          <p:nvPr/>
        </p:nvSpPr>
        <p:spPr>
          <a:xfrm>
            <a:off x="4846320" y="12344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21615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169164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846320" y="205740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goals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12280" y="1051560"/>
            <a:ext cx="1874520" cy="155448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12280" y="1051560"/>
            <a:ext cx="1874520" cy="457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25" name="Text 20"/>
          <p:cNvSpPr/>
          <p:nvPr/>
        </p:nvSpPr>
        <p:spPr>
          <a:xfrm>
            <a:off x="6949440" y="12344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216152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49440" y="169164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949440" y="205740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&amp; gaps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02920" y="2880360"/>
            <a:ext cx="1874520" cy="155448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02920" y="2880360"/>
            <a:ext cx="1874520" cy="457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1" name="Text 25"/>
          <p:cNvSpPr/>
          <p:nvPr/>
        </p:nvSpPr>
        <p:spPr>
          <a:xfrm>
            <a:off x="640080" y="30632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520" y="3044952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40080" y="352044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640080" y="388620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MLDLC framework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2606040" y="2880360"/>
            <a:ext cx="1874520" cy="155448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2606040" y="2880360"/>
            <a:ext cx="1874520" cy="457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7" name="Text 30"/>
          <p:cNvSpPr/>
          <p:nvPr/>
        </p:nvSpPr>
        <p:spPr>
          <a:xfrm>
            <a:off x="2743200" y="30632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40" y="3044952"/>
            <a:ext cx="347472" cy="34747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2743200" y="352044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Design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2743200" y="388620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DE-DNN architecture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4709160" y="2880360"/>
            <a:ext cx="1874520" cy="155448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709160" y="2880360"/>
            <a:ext cx="1874520" cy="457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43" name="Text 35"/>
          <p:cNvSpPr/>
          <p:nvPr/>
        </p:nvSpPr>
        <p:spPr>
          <a:xfrm>
            <a:off x="4846320" y="30632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3044952"/>
            <a:ext cx="347472" cy="34747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4846320" y="352044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46" name="Text 37"/>
          <p:cNvSpPr/>
          <p:nvPr/>
        </p:nvSpPr>
        <p:spPr>
          <a:xfrm>
            <a:off x="4846320" y="388620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expected results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6812280" y="2880360"/>
            <a:ext cx="1874520" cy="155448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6812280" y="2880360"/>
            <a:ext cx="1874520" cy="457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49" name="Text 40"/>
          <p:cNvSpPr/>
          <p:nvPr/>
        </p:nvSpPr>
        <p:spPr>
          <a:xfrm>
            <a:off x="6949440" y="30632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3044952"/>
            <a:ext cx="347472" cy="347472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6949440" y="352044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2" name="Text 42"/>
          <p:cNvSpPr/>
          <p:nvPr/>
        </p:nvSpPr>
        <p:spPr>
          <a:xfrm>
            <a:off x="6949440" y="388620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&amp; future work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109728" y="4800600"/>
            <a:ext cx="9034272" cy="342900"/>
          </a:xfrm>
          <a:prstGeom prst="rect">
            <a:avLst/>
          </a:prstGeom>
          <a:solidFill>
            <a:srgbClr val="12122A"/>
          </a:solidFill>
        </p:spPr>
      </p:sp>
      <p:sp>
        <p:nvSpPr>
          <p:cNvPr id="54" name="Text 44"/>
          <p:cNvSpPr/>
          <p:nvPr/>
        </p:nvSpPr>
        <p:spPr>
          <a:xfrm>
            <a:off x="502920" y="4800600"/>
            <a:ext cx="7315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DE-Optimized DNN for Intrusion Detection  |  Florish Adekogbe  |  University of Lagos</a:t>
            </a:r>
            <a:endParaRPr lang="en-US" sz="800" dirty="0"/>
          </a:p>
        </p:txBody>
      </p:sp>
      <p:sp>
        <p:nvSpPr>
          <p:cNvPr id="55" name="Text 45"/>
          <p:cNvSpPr/>
          <p:nvPr/>
        </p:nvSpPr>
        <p:spPr>
          <a:xfrm>
            <a:off x="8412480" y="4800600"/>
            <a:ext cx="457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of the Study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76732"/>
            <a:ext cx="1097280" cy="36576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5" name="Text 3"/>
          <p:cNvSpPr/>
          <p:nvPr/>
        </p:nvSpPr>
        <p:spPr>
          <a:xfrm>
            <a:off x="502920" y="106553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rapid proliferation of digital technologies has drastically expanded the attack surface for cyber threats. Organizations face increasingly sophisticated intrusions that traditional security tools struggle to counter.</a:t>
            </a:r>
            <a:endParaRPr lang="en-US" sz="1300" dirty="0">
              <a:solidFill>
                <a:srgbClr val="2D2D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029200" cy="7315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011680"/>
            <a:ext cx="73152" cy="731520"/>
          </a:xfrm>
          <a:prstGeom prst="rect">
            <a:avLst/>
          </a:prstGeom>
          <a:solidFill>
            <a:srgbClr val="E94560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7627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05740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IDS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25880" y="235915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against known threats but blind to novel or zero-day attacks with no existing signature.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2880360"/>
            <a:ext cx="5029200" cy="7315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2880360"/>
            <a:ext cx="73152" cy="731520"/>
          </a:xfrm>
          <a:prstGeom prst="rect">
            <a:avLst/>
          </a:prstGeom>
          <a:solidFill>
            <a:srgbClr val="E94560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4495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29260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Anomaly-based IDS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325880" y="322783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of detecting unknown attacks but generates excessive false positives that overwhelm security teams.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3749040"/>
            <a:ext cx="5029200" cy="7315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2920" y="3749040"/>
            <a:ext cx="73152" cy="731520"/>
          </a:xfrm>
          <a:prstGeom prst="rect">
            <a:avLst/>
          </a:prstGeom>
          <a:solidFill>
            <a:srgbClr val="E94560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1363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79476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325880" y="409651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pattern recognition, but performance is highly sensitive to hyperparameter configuration — manual tuning is impractical.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035040" y="1051560"/>
            <a:ext cx="2743200" cy="1051560"/>
          </a:xfrm>
          <a:prstGeom prst="rect">
            <a:avLst/>
          </a:prstGeom>
          <a:solidFill>
            <a:srgbClr val="1A1A2E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035040" y="1051560"/>
            <a:ext cx="2743200" cy="457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23" name="Text 18"/>
          <p:cNvSpPr/>
          <p:nvPr/>
        </p:nvSpPr>
        <p:spPr>
          <a:xfrm>
            <a:off x="6035040" y="11887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$10T+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6035040" y="16459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global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cost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035040" y="2286000"/>
            <a:ext cx="2743200" cy="1051560"/>
          </a:xfrm>
          <a:prstGeom prst="rect">
            <a:avLst/>
          </a:prstGeom>
          <a:solidFill>
            <a:srgbClr val="1A1A2E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035040" y="2286000"/>
            <a:ext cx="2743200" cy="457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27" name="Text 22"/>
          <p:cNvSpPr/>
          <p:nvPr/>
        </p:nvSpPr>
        <p:spPr>
          <a:xfrm>
            <a:off x="6035040" y="24231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</a:t>
            </a:r>
            <a:endParaRPr lang="en-US" sz="2600" dirty="0"/>
          </a:p>
        </p:txBody>
      </p:sp>
      <p:sp>
        <p:nvSpPr>
          <p:cNvPr id="28" name="Text 23"/>
          <p:cNvSpPr/>
          <p:nvPr/>
        </p:nvSpPr>
        <p:spPr>
          <a:xfrm>
            <a:off x="6035040" y="28803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evade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IDS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035040" y="3520440"/>
            <a:ext cx="2743200" cy="1051560"/>
          </a:xfrm>
          <a:prstGeom prst="rect">
            <a:avLst/>
          </a:prstGeom>
          <a:solidFill>
            <a:srgbClr val="1A1A2E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035040" y="3520440"/>
            <a:ext cx="2743200" cy="457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1" name="Text 26"/>
          <p:cNvSpPr/>
          <p:nvPr/>
        </p:nvSpPr>
        <p:spPr>
          <a:xfrm>
            <a:off x="6035040" y="36576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</a:t>
            </a:r>
            <a:endParaRPr lang="en-US" sz="2600" dirty="0"/>
          </a:p>
        </p:txBody>
      </p:sp>
      <p:sp>
        <p:nvSpPr>
          <p:cNvPr id="32" name="Text 27"/>
          <p:cNvSpPr/>
          <p:nvPr/>
        </p:nvSpPr>
        <p:spPr>
          <a:xfrm>
            <a:off x="6035040" y="41148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detection 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109728" y="4800600"/>
            <a:ext cx="9034272" cy="342900"/>
          </a:xfrm>
          <a:prstGeom prst="rect">
            <a:avLst/>
          </a:prstGeom>
          <a:solidFill>
            <a:srgbClr val="D4CBC2"/>
          </a:solidFill>
        </p:spPr>
      </p:sp>
      <p:sp>
        <p:nvSpPr>
          <p:cNvPr id="34" name="Text 29"/>
          <p:cNvSpPr/>
          <p:nvPr/>
        </p:nvSpPr>
        <p:spPr>
          <a:xfrm>
            <a:off x="502920" y="4800600"/>
            <a:ext cx="7315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DE-Optimized DNN for Intrusion Detection  |  Florish Adekogbe  |  University of Lagos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8412480" y="4800600"/>
            <a:ext cx="457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97280" cy="36576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5" name="Shape 3"/>
          <p:cNvSpPr/>
          <p:nvPr/>
        </p:nvSpPr>
        <p:spPr>
          <a:xfrm>
            <a:off x="502920" y="1097280"/>
            <a:ext cx="3931920" cy="141732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73152" cy="14173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7" name="Shape 5"/>
          <p:cNvSpPr/>
          <p:nvPr/>
        </p:nvSpPr>
        <p:spPr>
          <a:xfrm>
            <a:off x="731520" y="1280160"/>
            <a:ext cx="411480" cy="36576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8" name="Text 6"/>
          <p:cNvSpPr/>
          <p:nvPr/>
        </p:nvSpPr>
        <p:spPr>
          <a:xfrm>
            <a:off x="731520" y="128016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2801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Gap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73736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IDS cannot detect novel threats, advanced evasion methods, or zero-day exploits with no available signature.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3931920" cy="141732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97280"/>
            <a:ext cx="73152" cy="14173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3" name="Shape 11"/>
          <p:cNvSpPr/>
          <p:nvPr/>
        </p:nvSpPr>
        <p:spPr>
          <a:xfrm>
            <a:off x="4937760" y="1280160"/>
            <a:ext cx="411480" cy="36576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4" name="Text 12"/>
          <p:cNvSpPr/>
          <p:nvPr/>
        </p:nvSpPr>
        <p:spPr>
          <a:xfrm>
            <a:off x="4937760" y="128016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12801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Overload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Anomaly-based systems produce excessive false positives, saturating security teams with false alarms while letting real threats pass.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788920"/>
            <a:ext cx="3931920" cy="141732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788920"/>
            <a:ext cx="73152" cy="14173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9" name="Shape 17"/>
          <p:cNvSpPr/>
          <p:nvPr/>
        </p:nvSpPr>
        <p:spPr>
          <a:xfrm>
            <a:off x="731520" y="2971800"/>
            <a:ext cx="411480" cy="36576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20" name="Text 18"/>
          <p:cNvSpPr/>
          <p:nvPr/>
        </p:nvSpPr>
        <p:spPr>
          <a:xfrm>
            <a:off x="731520" y="297180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29718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Complexity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" y="342900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tuning of DNN hyperparameters is time-consuming, requires deep expertise, and rarely discovers truly optimal configurations.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788920"/>
            <a:ext cx="3931920" cy="141732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788920"/>
            <a:ext cx="73152" cy="14173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25" name="Shape 23"/>
          <p:cNvSpPr/>
          <p:nvPr/>
        </p:nvSpPr>
        <p:spPr>
          <a:xfrm>
            <a:off x="4937760" y="2971800"/>
            <a:ext cx="411480" cy="36576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26" name="Text 24"/>
          <p:cNvSpPr/>
          <p:nvPr/>
        </p:nvSpPr>
        <p:spPr>
          <a:xfrm>
            <a:off x="4937760" y="297180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29718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37760" y="342900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systematic work exists on using Differential Evolution for comprehensive DNN hyperparameter optimization in intrusion detection.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800600"/>
            <a:ext cx="9034272" cy="342900"/>
          </a:xfrm>
          <a:prstGeom prst="rect">
            <a:avLst/>
          </a:prstGeom>
          <a:solidFill>
            <a:srgbClr val="12122A"/>
          </a:solidFill>
        </p:spPr>
      </p:sp>
      <p:sp>
        <p:nvSpPr>
          <p:cNvPr id="30" name="Text 28"/>
          <p:cNvSpPr/>
          <p:nvPr/>
        </p:nvSpPr>
        <p:spPr>
          <a:xfrm>
            <a:off x="502920" y="4800600"/>
            <a:ext cx="7315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DE-Optimized DNN for Intrusion Detection  |  Florish Adekogbe  |  University of Lagos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12480" y="4800600"/>
            <a:ext cx="457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97280" cy="36576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5" name="Shape 3"/>
          <p:cNvSpPr/>
          <p:nvPr/>
        </p:nvSpPr>
        <p:spPr>
          <a:xfrm>
            <a:off x="502920" y="1051560"/>
            <a:ext cx="8138160" cy="822960"/>
          </a:xfrm>
          <a:prstGeom prst="rect">
            <a:avLst/>
          </a:prstGeom>
          <a:solidFill>
            <a:srgbClr val="1A1A2E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73152" cy="822960"/>
          </a:xfrm>
          <a:prstGeom prst="rect">
            <a:avLst/>
          </a:prstGeom>
          <a:solidFill>
            <a:srgbClr val="E94560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051560"/>
            <a:ext cx="7040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DE-optimized DNN architecture that achieves higher detection accuracy and lower false positive rates compared to conventional ML and manually-tuned DL approaches.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2148840"/>
            <a:ext cx="320040" cy="2743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0" name="Text 7"/>
          <p:cNvSpPr/>
          <p:nvPr/>
        </p:nvSpPr>
        <p:spPr>
          <a:xfrm>
            <a:off x="502920" y="214884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" y="210312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 comprehensive survey of IDS techniques, deep learning models, and evolutionary optimization algorithms.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2569464"/>
            <a:ext cx="320040" cy="2743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3" name="Text 10"/>
          <p:cNvSpPr/>
          <p:nvPr/>
        </p:nvSpPr>
        <p:spPr>
          <a:xfrm>
            <a:off x="502920" y="2569464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523744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Deep Neural Network framework specifically tailored for intrusion detection problems.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2990088"/>
            <a:ext cx="320040" cy="2743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6" name="Text 13"/>
          <p:cNvSpPr/>
          <p:nvPr/>
        </p:nvSpPr>
        <p:spPr>
          <a:xfrm>
            <a:off x="502920" y="2990088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" y="2944368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Differential Evolution system to optimize DNN hyperparameters (architecture, learning rate, dropout, activation).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3410712"/>
            <a:ext cx="320040" cy="2743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9" name="Text 16"/>
          <p:cNvSpPr/>
          <p:nvPr/>
        </p:nvSpPr>
        <p:spPr>
          <a:xfrm>
            <a:off x="502920" y="341071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05840" y="3364992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DE optimizer with DNN training for fully automated hyperparameter configuration search.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" y="3831336"/>
            <a:ext cx="320040" cy="2743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22" name="Text 19"/>
          <p:cNvSpPr/>
          <p:nvPr/>
        </p:nvSpPr>
        <p:spPr>
          <a:xfrm>
            <a:off x="502920" y="3831336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05840" y="3785616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NSL-KDD and CICIDS2017 benchmarks using accuracy, precision, recall, F1-score, and AUC-ROC.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2920" y="4251960"/>
            <a:ext cx="320040" cy="2743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25" name="Text 22"/>
          <p:cNvSpPr/>
          <p:nvPr/>
        </p:nvSpPr>
        <p:spPr>
          <a:xfrm>
            <a:off x="502920" y="42519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05840" y="420624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compare performance against existing ML-based and DL-based intrusion detection models.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09728" y="4800600"/>
            <a:ext cx="9034272" cy="342900"/>
          </a:xfrm>
          <a:prstGeom prst="rect">
            <a:avLst/>
          </a:prstGeom>
          <a:solidFill>
            <a:srgbClr val="D4CBC2"/>
          </a:solidFill>
        </p:spPr>
      </p:sp>
      <p:sp>
        <p:nvSpPr>
          <p:cNvPr id="28" name="Text 25"/>
          <p:cNvSpPr/>
          <p:nvPr/>
        </p:nvSpPr>
        <p:spPr>
          <a:xfrm>
            <a:off x="502920" y="4800600"/>
            <a:ext cx="7315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DE-Optimized DNN for Intrusion Detection  |  Florish Adekogbe  |  University of Lagos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412480" y="4800600"/>
            <a:ext cx="457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97280" cy="36576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5" name="Text 3"/>
          <p:cNvSpPr/>
          <p:nvPr/>
        </p:nvSpPr>
        <p:spPr>
          <a:xfrm>
            <a:off x="502920" y="105156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Approaches Comparison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02920" y="1417320"/>
          <a:ext cx="3931920" cy="1170432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914400"/>
                <a:gridCol w="100584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8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Attacks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8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Attacks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8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 Rate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4754880" y="105156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Related Works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417320"/>
            <a:ext cx="3931920" cy="475488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37760" y="144475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(2019)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937760" y="16459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GA-optimized DBN — limited hyperparameter scope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754880" y="1984248"/>
            <a:ext cx="3931920" cy="475488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937760" y="201168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Vinayakumar et al. (2019)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37760" y="221284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 98%+ detection — manual tuning only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754880" y="2551176"/>
            <a:ext cx="3931920" cy="475488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37760" y="257860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Kasongo &amp; Sun (2020)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37760" y="2779776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+ feature selection 99.95% — fixed architecture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754880" y="3118104"/>
            <a:ext cx="3931920" cy="475488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937760" y="3145536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Baioletti et al. (2020)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37760" y="334670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 NN weight optimization — not security domain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02920" y="3749040"/>
            <a:ext cx="8138160" cy="731520"/>
          </a:xfrm>
          <a:prstGeom prst="rect">
            <a:avLst/>
          </a:prstGeom>
          <a:solidFill>
            <a:srgbClr val="E945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8620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325880" y="37947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325880" y="4069080"/>
            <a:ext cx="7040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comprehensive DE optimization of DNN hyperparameters for intrusion detection exists in current literature.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109728" y="4800600"/>
            <a:ext cx="9034272" cy="342900"/>
          </a:xfrm>
          <a:prstGeom prst="rect">
            <a:avLst/>
          </a:prstGeom>
          <a:solidFill>
            <a:srgbClr val="12122A"/>
          </a:solidFill>
        </p:spPr>
      </p:sp>
      <p:sp>
        <p:nvSpPr>
          <p:cNvPr id="25" name="Text 21"/>
          <p:cNvSpPr/>
          <p:nvPr/>
        </p:nvSpPr>
        <p:spPr>
          <a:xfrm>
            <a:off x="502920" y="4800600"/>
            <a:ext cx="7315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DE-Optimized DNN for Intrusion Detection  |  Florish Adekogbe  |  University of Lagos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8412480" y="4800600"/>
            <a:ext cx="457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MLDLC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97280" cy="36576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5" name="Shape 3"/>
          <p:cNvSpPr/>
          <p:nvPr/>
        </p:nvSpPr>
        <p:spPr>
          <a:xfrm>
            <a:off x="502920" y="1051560"/>
            <a:ext cx="1005840" cy="868680"/>
          </a:xfrm>
          <a:prstGeom prst="rect">
            <a:avLst/>
          </a:prstGeom>
          <a:solidFill>
            <a:srgbClr val="1A1A2E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789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08760" y="1234440"/>
            <a:ext cx="164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73352" y="1051560"/>
            <a:ext cx="1005840" cy="868680"/>
          </a:xfrm>
          <a:prstGeom prst="rect">
            <a:avLst/>
          </a:prstGeom>
          <a:solidFill>
            <a:srgbClr val="1A1A2E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73352" y="10789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73352" y="1353312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79192" y="1234440"/>
            <a:ext cx="164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43784" y="1051560"/>
            <a:ext cx="1005840" cy="868680"/>
          </a:xfrm>
          <a:prstGeom prst="rect">
            <a:avLst/>
          </a:prstGeom>
          <a:solidFill>
            <a:srgbClr val="1A1A2E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43784" y="10789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43784" y="1353312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9624" y="1234440"/>
            <a:ext cx="164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14216" y="1051560"/>
            <a:ext cx="1005840" cy="868680"/>
          </a:xfrm>
          <a:prstGeom prst="rect">
            <a:avLst/>
          </a:prstGeom>
          <a:solidFill>
            <a:srgbClr val="E945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14216" y="10789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014216" y="1353312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0056" y="1234440"/>
            <a:ext cx="164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84648" y="1051560"/>
            <a:ext cx="1005840" cy="868680"/>
          </a:xfrm>
          <a:prstGeom prst="rect">
            <a:avLst/>
          </a:prstGeom>
          <a:solidFill>
            <a:srgbClr val="E945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84648" y="10789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84648" y="1353312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90488" y="1234440"/>
            <a:ext cx="164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55080" y="1051560"/>
            <a:ext cx="1005840" cy="868680"/>
          </a:xfrm>
          <a:prstGeom prst="rect">
            <a:avLst/>
          </a:prstGeom>
          <a:solidFill>
            <a:srgbClr val="1A1A2E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55080" y="10789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55080" y="1353312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60920" y="1234440"/>
            <a:ext cx="164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25512" y="1051560"/>
            <a:ext cx="1005840" cy="868680"/>
          </a:xfrm>
          <a:prstGeom prst="rect">
            <a:avLst/>
          </a:prstGeom>
          <a:solidFill>
            <a:srgbClr val="1A1A2E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25512" y="10789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525512" y="1353312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2286000"/>
            <a:ext cx="3931920" cy="5943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2286000"/>
            <a:ext cx="64008" cy="59436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4" name="Text 32"/>
          <p:cNvSpPr/>
          <p:nvPr/>
        </p:nvSpPr>
        <p:spPr>
          <a:xfrm>
            <a:off x="731520" y="233172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2532888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IDS classification problem with targets: accuracy &gt;99%, false positive rate &lt;1%.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3035808"/>
            <a:ext cx="3931920" cy="5943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2920" y="3035808"/>
            <a:ext cx="64008" cy="59436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8" name="Text 36"/>
          <p:cNvSpPr/>
          <p:nvPr/>
        </p:nvSpPr>
        <p:spPr>
          <a:xfrm>
            <a:off x="731520" y="30815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" y="3282696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NSL-KDD and CICIDS2017 benchmark datasets from the Canadian Institute of Cybersecurity.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3785616"/>
            <a:ext cx="3931920" cy="5943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02920" y="3785616"/>
            <a:ext cx="64008" cy="59436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42" name="Text 40"/>
          <p:cNvSpPr/>
          <p:nvPr/>
        </p:nvSpPr>
        <p:spPr>
          <a:xfrm>
            <a:off x="731520" y="383133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" y="4032504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data, one-hot encode categoricals, min-max normalize numericals, optionally apply SMOTE.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2286000"/>
            <a:ext cx="3931920" cy="5943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2286000"/>
            <a:ext cx="64008" cy="59436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46" name="Text 44"/>
          <p:cNvSpPr/>
          <p:nvPr/>
        </p:nvSpPr>
        <p:spPr>
          <a:xfrm>
            <a:off x="4937760" y="233172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4–5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37760" y="2532888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tunable DNN architecture, define DE search space, train with Adam optimizer and early stopping.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09160" y="3035808"/>
            <a:ext cx="3931920" cy="5943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09160" y="3035808"/>
            <a:ext cx="64008" cy="59436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50" name="Text 48"/>
          <p:cNvSpPr/>
          <p:nvPr/>
        </p:nvSpPr>
        <p:spPr>
          <a:xfrm>
            <a:off x="4937760" y="30815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937760" y="3282696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accuracy, precision, recall, F1-score, AUC-ROC on held-out test data.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09160" y="3785616"/>
            <a:ext cx="3931920" cy="5943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09160" y="3785616"/>
            <a:ext cx="64008" cy="59436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54" name="Text 52"/>
          <p:cNvSpPr/>
          <p:nvPr/>
        </p:nvSpPr>
        <p:spPr>
          <a:xfrm>
            <a:off x="4937760" y="383133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937760" y="4032504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baselines, analyze convergence behavior, draw conclusions, document results.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9728" y="4800600"/>
            <a:ext cx="9034272" cy="342900"/>
          </a:xfrm>
          <a:prstGeom prst="rect">
            <a:avLst/>
          </a:prstGeom>
          <a:solidFill>
            <a:srgbClr val="D4CBC2"/>
          </a:solidFill>
        </p:spPr>
      </p:sp>
      <p:sp>
        <p:nvSpPr>
          <p:cNvPr id="57" name="Text 55"/>
          <p:cNvSpPr/>
          <p:nvPr/>
        </p:nvSpPr>
        <p:spPr>
          <a:xfrm>
            <a:off x="502920" y="4800600"/>
            <a:ext cx="7315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DE-Optimized DNN for Intrusion Detection  |  Florish Adekogbe  |  University of Lagos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412480" y="4800600"/>
            <a:ext cx="457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97280" cy="36576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5" name="Shape 3"/>
          <p:cNvSpPr/>
          <p:nvPr/>
        </p:nvSpPr>
        <p:spPr>
          <a:xfrm>
            <a:off x="502920" y="1097280"/>
            <a:ext cx="3931920" cy="329184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3931920" cy="502920"/>
          </a:xfrm>
          <a:prstGeom prst="rect">
            <a:avLst/>
          </a:prstGeom>
          <a:solidFill>
            <a:srgbClr val="E94560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7043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9728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178308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286000" y="178308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(38 numeric, 3 categorical)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2167128"/>
            <a:ext cx="3474720" cy="4572"/>
          </a:xfrm>
          <a:prstGeom prst="rect">
            <a:avLst/>
          </a:prstGeom>
          <a:solidFill>
            <a:srgbClr val="2A2A45"/>
          </a:solidFill>
        </p:spPr>
      </p:sp>
      <p:sp>
        <p:nvSpPr>
          <p:cNvPr id="12" name="Text 9"/>
          <p:cNvSpPr/>
          <p:nvPr/>
        </p:nvSpPr>
        <p:spPr>
          <a:xfrm>
            <a:off x="731520" y="2258568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286000" y="2258568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125,973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2642616"/>
            <a:ext cx="3474720" cy="4572"/>
          </a:xfrm>
          <a:prstGeom prst="rect">
            <a:avLst/>
          </a:prstGeom>
          <a:solidFill>
            <a:srgbClr val="2A2A45"/>
          </a:solidFill>
        </p:spPr>
      </p:sp>
      <p:sp>
        <p:nvSpPr>
          <p:cNvPr id="15" name="Text 12"/>
          <p:cNvSpPr/>
          <p:nvPr/>
        </p:nvSpPr>
        <p:spPr>
          <a:xfrm>
            <a:off x="731520" y="2734056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286000" y="2734056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22,544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" y="3118104"/>
            <a:ext cx="3474720" cy="4572"/>
          </a:xfrm>
          <a:prstGeom prst="rect">
            <a:avLst/>
          </a:prstGeom>
          <a:solidFill>
            <a:srgbClr val="2A2A45"/>
          </a:solidFill>
        </p:spPr>
      </p:sp>
      <p:sp>
        <p:nvSpPr>
          <p:cNvPr id="18" name="Text 15"/>
          <p:cNvSpPr/>
          <p:nvPr/>
        </p:nvSpPr>
        <p:spPr>
          <a:xfrm>
            <a:off x="731520" y="3209544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Categories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286000" y="3209544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(DoS, Probe, R2L, U2R)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3593592"/>
            <a:ext cx="3474720" cy="4572"/>
          </a:xfrm>
          <a:prstGeom prst="rect">
            <a:avLst/>
          </a:prstGeom>
          <a:solidFill>
            <a:srgbClr val="2A2A45"/>
          </a:solidFill>
        </p:spPr>
      </p:sp>
      <p:sp>
        <p:nvSpPr>
          <p:cNvPr id="21" name="Text 18"/>
          <p:cNvSpPr/>
          <p:nvPr/>
        </p:nvSpPr>
        <p:spPr>
          <a:xfrm>
            <a:off x="731520" y="368503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286000" y="368503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in train / 38 in test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09160" y="1097280"/>
            <a:ext cx="3931920" cy="329184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09160" y="1097280"/>
            <a:ext cx="3931920" cy="502920"/>
          </a:xfrm>
          <a:prstGeom prst="rect">
            <a:avLst/>
          </a:prstGeom>
          <a:solidFill>
            <a:srgbClr val="F0A500"/>
          </a:solidFill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170432"/>
            <a:ext cx="320040" cy="3200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03520" y="109728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CICIDS2017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4937760" y="178308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492240" y="178308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extracted flow features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937760" y="2167128"/>
            <a:ext cx="3474720" cy="4572"/>
          </a:xfrm>
          <a:prstGeom prst="rect">
            <a:avLst/>
          </a:prstGeom>
          <a:solidFill>
            <a:srgbClr val="2A2A45"/>
          </a:solidFill>
        </p:spPr>
      </p:sp>
      <p:sp>
        <p:nvSpPr>
          <p:cNvPr id="30" name="Text 26"/>
          <p:cNvSpPr/>
          <p:nvPr/>
        </p:nvSpPr>
        <p:spPr>
          <a:xfrm>
            <a:off x="4937760" y="2258568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492240" y="225856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~2,830,743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937760" y="2642616"/>
            <a:ext cx="3474720" cy="4572"/>
          </a:xfrm>
          <a:prstGeom prst="rect">
            <a:avLst/>
          </a:prstGeom>
          <a:solidFill>
            <a:srgbClr val="2A2A45"/>
          </a:solidFill>
        </p:spPr>
      </p:sp>
      <p:sp>
        <p:nvSpPr>
          <p:cNvPr id="33" name="Text 29"/>
          <p:cNvSpPr/>
          <p:nvPr/>
        </p:nvSpPr>
        <p:spPr>
          <a:xfrm>
            <a:off x="4937760" y="2734056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492240" y="2734056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categories across 5 days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937760" y="3118104"/>
            <a:ext cx="3474720" cy="4572"/>
          </a:xfrm>
          <a:prstGeom prst="rect">
            <a:avLst/>
          </a:prstGeom>
          <a:solidFill>
            <a:srgbClr val="2A2A45"/>
          </a:solidFill>
        </p:spPr>
      </p:sp>
      <p:sp>
        <p:nvSpPr>
          <p:cNvPr id="36" name="Text 32"/>
          <p:cNvSpPr/>
          <p:nvPr/>
        </p:nvSpPr>
        <p:spPr>
          <a:xfrm>
            <a:off x="4937760" y="3209544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Period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6492240" y="3209544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through Friday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4937760" y="3593592"/>
            <a:ext cx="3474720" cy="4572"/>
          </a:xfrm>
          <a:prstGeom prst="rect">
            <a:avLst/>
          </a:prstGeom>
          <a:solidFill>
            <a:srgbClr val="2A2A45"/>
          </a:solidFill>
        </p:spPr>
      </p:sp>
      <p:sp>
        <p:nvSpPr>
          <p:cNvPr id="39" name="Text 35"/>
          <p:cNvSpPr/>
          <p:nvPr/>
        </p:nvSpPr>
        <p:spPr>
          <a:xfrm>
            <a:off x="4937760" y="368503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Variants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6492240" y="368503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Force, DDoS, Heartbleed, SQL Injection, Bot, etc.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109728" y="4800600"/>
            <a:ext cx="9034272" cy="342900"/>
          </a:xfrm>
          <a:prstGeom prst="rect">
            <a:avLst/>
          </a:prstGeom>
          <a:solidFill>
            <a:srgbClr val="12122A"/>
          </a:solidFill>
        </p:spPr>
      </p:sp>
      <p:sp>
        <p:nvSpPr>
          <p:cNvPr id="42" name="Text 38"/>
          <p:cNvSpPr/>
          <p:nvPr/>
        </p:nvSpPr>
        <p:spPr>
          <a:xfrm>
            <a:off x="502920" y="4800600"/>
            <a:ext cx="7315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DE-Optimized DNN for Intrusion Detection  |  Florish Adekogbe  |  University of Lagos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8412480" y="4800600"/>
            <a:ext cx="457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97280" cy="36576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5" name="Shape 3"/>
          <p:cNvSpPr/>
          <p:nvPr/>
        </p:nvSpPr>
        <p:spPr>
          <a:xfrm>
            <a:off x="548640" y="1143000"/>
            <a:ext cx="438912" cy="438912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6" name="Text 4"/>
          <p:cNvSpPr/>
          <p:nvPr/>
        </p:nvSpPr>
        <p:spPr>
          <a:xfrm>
            <a:off x="548640" y="114300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" y="1581912"/>
            <a:ext cx="36576" cy="182880"/>
          </a:xfrm>
          <a:prstGeom prst="rect">
            <a:avLst/>
          </a:prstGeom>
          <a:solidFill>
            <a:srgbClr val="E94560">
              <a:alpha val="6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1234440" y="1051560"/>
            <a:ext cx="7406640" cy="5943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34440" y="1051560"/>
            <a:ext cx="64008" cy="59436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0" name="Text 8"/>
          <p:cNvSpPr/>
          <p:nvPr/>
        </p:nvSpPr>
        <p:spPr>
          <a:xfrm>
            <a:off x="1463040" y="10972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1344168"/>
            <a:ext cx="6995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records with missing, infinity, and NaN values — critical for CICIDS2017 data quality.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856232"/>
            <a:ext cx="438912" cy="438912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3" name="Text 11"/>
          <p:cNvSpPr/>
          <p:nvPr/>
        </p:nvSpPr>
        <p:spPr>
          <a:xfrm>
            <a:off x="548640" y="185623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2295144"/>
            <a:ext cx="36576" cy="182880"/>
          </a:xfrm>
          <a:prstGeom prst="rect">
            <a:avLst/>
          </a:prstGeom>
          <a:solidFill>
            <a:srgbClr val="E94560">
              <a:alpha val="6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1234440" y="1764792"/>
            <a:ext cx="7406640" cy="5943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234440" y="1764792"/>
            <a:ext cx="64008" cy="59436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7" name="Text 15"/>
          <p:cNvSpPr/>
          <p:nvPr/>
        </p:nvSpPr>
        <p:spPr>
          <a:xfrm>
            <a:off x="1463040" y="181051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Encoding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2057400"/>
            <a:ext cx="6995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categorical features: protocol_type, service, flag (NSL-KDD).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569464"/>
            <a:ext cx="438912" cy="438912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20" name="Text 18"/>
          <p:cNvSpPr/>
          <p:nvPr/>
        </p:nvSpPr>
        <p:spPr>
          <a:xfrm>
            <a:off x="548640" y="256946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9808" y="3008376"/>
            <a:ext cx="36576" cy="182880"/>
          </a:xfrm>
          <a:prstGeom prst="rect">
            <a:avLst/>
          </a:prstGeom>
          <a:solidFill>
            <a:srgbClr val="E94560">
              <a:alpha val="60000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1234440" y="2478024"/>
            <a:ext cx="7406640" cy="5943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234440" y="2478024"/>
            <a:ext cx="64008" cy="59436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24" name="Text 22"/>
          <p:cNvSpPr/>
          <p:nvPr/>
        </p:nvSpPr>
        <p:spPr>
          <a:xfrm>
            <a:off x="1463040" y="25237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2770632"/>
            <a:ext cx="6995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scaling to [0, 1]:  x' = (x − x_min) / (x_max − x_min) for effective training.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282696"/>
            <a:ext cx="438912" cy="438912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27" name="Text 25"/>
          <p:cNvSpPr/>
          <p:nvPr/>
        </p:nvSpPr>
        <p:spPr>
          <a:xfrm>
            <a:off x="548640" y="328269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" y="3721608"/>
            <a:ext cx="36576" cy="182880"/>
          </a:xfrm>
          <a:prstGeom prst="rect">
            <a:avLst/>
          </a:prstGeom>
          <a:solidFill>
            <a:srgbClr val="E94560">
              <a:alpha val="6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1234440" y="3191256"/>
            <a:ext cx="7406640" cy="5943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234440" y="3191256"/>
            <a:ext cx="64008" cy="59436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1" name="Text 29"/>
          <p:cNvSpPr/>
          <p:nvPr/>
        </p:nvSpPr>
        <p:spPr>
          <a:xfrm>
            <a:off x="1463040" y="323697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Splitting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63040" y="3483864"/>
            <a:ext cx="6995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train-validation split preserving class proportions across all categories.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995928"/>
            <a:ext cx="438912" cy="438912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4" name="Text 32"/>
          <p:cNvSpPr/>
          <p:nvPr/>
        </p:nvSpPr>
        <p:spPr>
          <a:xfrm>
            <a:off x="548640" y="399592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34440" y="3904488"/>
            <a:ext cx="7406640" cy="5943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234440" y="3904488"/>
            <a:ext cx="64008" cy="59436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7" name="Text 35"/>
          <p:cNvSpPr/>
          <p:nvPr/>
        </p:nvSpPr>
        <p:spPr>
          <a:xfrm>
            <a:off x="1463040" y="39502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463040" y="4197096"/>
            <a:ext cx="6995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SMOTE (Synthetic Minority Over-sampling) for underrepresented R2L and U2R attack classes.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9728" y="4800600"/>
            <a:ext cx="9034272" cy="342900"/>
          </a:xfrm>
          <a:prstGeom prst="rect">
            <a:avLst/>
          </a:prstGeom>
          <a:solidFill>
            <a:srgbClr val="D4CBC2"/>
          </a:solidFill>
        </p:spPr>
      </p:sp>
      <p:sp>
        <p:nvSpPr>
          <p:cNvPr id="40" name="Text 38"/>
          <p:cNvSpPr/>
          <p:nvPr/>
        </p:nvSpPr>
        <p:spPr>
          <a:xfrm>
            <a:off x="502920" y="4800600"/>
            <a:ext cx="7315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DE-Optimized DNN for Intrusion Detection  |  Florish Adekogbe  |  University of Lagos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412480" y="4800600"/>
            <a:ext cx="457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DE-DNN 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97280" cy="36576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5" name="Text 3"/>
          <p:cNvSpPr/>
          <p:nvPr/>
        </p:nvSpPr>
        <p:spPr>
          <a:xfrm>
            <a:off x="502920" y="10515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 — DIFFERENTIAL EVOLUTION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8229600" cy="1234440"/>
          </a:xfrm>
          <a:prstGeom prst="rect">
            <a:avLst/>
          </a:prstGeom>
          <a:solidFill>
            <a:srgbClr val="0F3460"/>
          </a:solidFill>
          <a:ln w="19050">
            <a:solidFill>
              <a:srgbClr val="E9456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85800" y="1463040"/>
            <a:ext cx="1783080" cy="9601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8" name="Text 6"/>
          <p:cNvSpPr/>
          <p:nvPr/>
        </p:nvSpPr>
        <p:spPr>
          <a:xfrm>
            <a:off x="685800" y="1463040"/>
            <a:ext cx="1783080" cy="9601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(NP = 20)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691640"/>
            <a:ext cx="228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97480" y="1463040"/>
            <a:ext cx="1783080" cy="9601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1" name="Text 9"/>
          <p:cNvSpPr/>
          <p:nvPr/>
        </p:nvSpPr>
        <p:spPr>
          <a:xfrm>
            <a:off x="2697480" y="1463040"/>
            <a:ext cx="1783080" cy="9601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x_r1 + F·(x_r2 − x_r3)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0.8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1691640"/>
            <a:ext cx="228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09160" y="1463040"/>
            <a:ext cx="1783080" cy="9601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4" name="Text 12"/>
          <p:cNvSpPr/>
          <p:nvPr/>
        </p:nvSpPr>
        <p:spPr>
          <a:xfrm>
            <a:off x="4709160" y="1463040"/>
            <a:ext cx="1783080" cy="9601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= 0.9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1691640"/>
            <a:ext cx="228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20840" y="1463040"/>
            <a:ext cx="1783080" cy="9601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7" name="Text 15"/>
          <p:cNvSpPr/>
          <p:nvPr/>
        </p:nvSpPr>
        <p:spPr>
          <a:xfrm>
            <a:off x="6720840" y="1463040"/>
            <a:ext cx="1783080" cy="9601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(Greedy)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0" y="2606040"/>
            <a:ext cx="731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2926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 — DNN TRAINING &amp; EVALUATION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227832"/>
            <a:ext cx="8229600" cy="1188720"/>
          </a:xfrm>
          <a:prstGeom prst="rect">
            <a:avLst/>
          </a:prstGeom>
          <a:solidFill>
            <a:srgbClr val="0F3460"/>
          </a:solidFill>
          <a:ln w="19050">
            <a:solidFill>
              <a:srgbClr val="F0A50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85800" y="3337560"/>
            <a:ext cx="1783080" cy="914400"/>
          </a:xfrm>
          <a:prstGeom prst="rect">
            <a:avLst/>
          </a:prstGeom>
          <a:solidFill>
            <a:srgbClr val="F0A500"/>
          </a:solidFill>
        </p:spPr>
      </p:sp>
      <p:sp>
        <p:nvSpPr>
          <p:cNvPr id="22" name="Text 20"/>
          <p:cNvSpPr/>
          <p:nvPr/>
        </p:nvSpPr>
        <p:spPr>
          <a:xfrm>
            <a:off x="685800" y="3337560"/>
            <a:ext cx="178308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68880" y="3566160"/>
            <a:ext cx="228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697480" y="3337560"/>
            <a:ext cx="1783080" cy="914400"/>
          </a:xfrm>
          <a:prstGeom prst="rect">
            <a:avLst/>
          </a:prstGeom>
          <a:solidFill>
            <a:srgbClr val="F0A500"/>
          </a:solidFill>
        </p:spPr>
      </p:sp>
      <p:sp>
        <p:nvSpPr>
          <p:cNvPr id="25" name="Text 23"/>
          <p:cNvSpPr/>
          <p:nvPr/>
        </p:nvSpPr>
        <p:spPr>
          <a:xfrm>
            <a:off x="2697480" y="3337560"/>
            <a:ext cx="178308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DNN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3566160"/>
            <a:ext cx="228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09160" y="3337560"/>
            <a:ext cx="1783080" cy="914400"/>
          </a:xfrm>
          <a:prstGeom prst="rect">
            <a:avLst/>
          </a:prstGeom>
          <a:solidFill>
            <a:srgbClr val="F0A500"/>
          </a:solidFill>
        </p:spPr>
      </p:sp>
      <p:sp>
        <p:nvSpPr>
          <p:cNvPr id="28" name="Text 26"/>
          <p:cNvSpPr/>
          <p:nvPr/>
        </p:nvSpPr>
        <p:spPr>
          <a:xfrm>
            <a:off x="4709160" y="3337560"/>
            <a:ext cx="178308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(Adam, 50 epochs)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3566160"/>
            <a:ext cx="228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20840" y="3337560"/>
            <a:ext cx="1783080" cy="914400"/>
          </a:xfrm>
          <a:prstGeom prst="rect">
            <a:avLst/>
          </a:prstGeom>
          <a:solidFill>
            <a:srgbClr val="F0A500"/>
          </a:solidFill>
        </p:spPr>
      </p:sp>
      <p:sp>
        <p:nvSpPr>
          <p:cNvPr id="31" name="Text 29"/>
          <p:cNvSpPr/>
          <p:nvPr/>
        </p:nvSpPr>
        <p:spPr>
          <a:xfrm>
            <a:off x="6720840" y="3337560"/>
            <a:ext cx="178308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9728" y="4800600"/>
            <a:ext cx="9034272" cy="342900"/>
          </a:xfrm>
          <a:prstGeom prst="rect">
            <a:avLst/>
          </a:prstGeom>
          <a:solidFill>
            <a:srgbClr val="12122A"/>
          </a:solidFill>
        </p:spPr>
      </p:sp>
      <p:sp>
        <p:nvSpPr>
          <p:cNvPr id="33" name="Text 31"/>
          <p:cNvSpPr/>
          <p:nvPr/>
        </p:nvSpPr>
        <p:spPr>
          <a:xfrm>
            <a:off x="502920" y="4800600"/>
            <a:ext cx="7315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DE-Optimized DNN for Intrusion Detection  |  Florish Adekogbe  |  University of Lagos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412480" y="4800600"/>
            <a:ext cx="457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Search Space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97280" cy="36576"/>
          </a:xfrm>
          <a:prstGeom prst="rect">
            <a:avLst/>
          </a:prstGeom>
          <a:solidFill>
            <a:srgbClr val="E94560"/>
          </a:solidFill>
        </p:spPr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02920" y="1051560"/>
          <a:ext cx="8138160" cy="2450592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2011680"/>
                <a:gridCol w="274320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Layers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5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Rounded continuous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Neurons / Layer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– 512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Rounded continuous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 – 0.1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Log-scale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Rate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– 0.5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value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– 256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Rounded to power of 2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 Function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ReLU, tanh, sigmoid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index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794760"/>
            <a:ext cx="8138160" cy="685800"/>
          </a:xfrm>
          <a:prstGeom prst="rect">
            <a:avLst/>
          </a:prstGeom>
          <a:solidFill>
            <a:srgbClr val="1A1A2E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38404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CONTROL PARAMETERS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4096512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Size (NP) = 20    |    Scaling Factor (F) = 0.8    |    Crossover Rate (CR) = 0.9    |    Max Generations = 50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9728" y="4800600"/>
            <a:ext cx="9034272" cy="342900"/>
          </a:xfrm>
          <a:prstGeom prst="rect">
            <a:avLst/>
          </a:prstGeom>
          <a:solidFill>
            <a:srgbClr val="D4CBC2"/>
          </a:solidFill>
        </p:spPr>
      </p:sp>
      <p:sp>
        <p:nvSpPr>
          <p:cNvPr id="10" name="Text 7"/>
          <p:cNvSpPr/>
          <p:nvPr/>
        </p:nvSpPr>
        <p:spPr>
          <a:xfrm>
            <a:off x="502920" y="4800600"/>
            <a:ext cx="7315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DE-Optimized DNN for Intrusion Detection  |  Florish Adekogbe  |  University of Lagos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412480" y="4800600"/>
            <a:ext cx="457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Process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97280" cy="36576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5" name="Shape 3"/>
          <p:cNvSpPr/>
          <p:nvPr/>
        </p:nvSpPr>
        <p:spPr>
          <a:xfrm>
            <a:off x="502920" y="1097280"/>
            <a:ext cx="3931920" cy="91440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64008" cy="914400"/>
          </a:xfrm>
          <a:prstGeom prst="rect">
            <a:avLst/>
          </a:prstGeom>
          <a:solidFill>
            <a:srgbClr val="E94560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1887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Initialization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148132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Xavier/Glorot initialization — maintains moderate gradient variance as signals pass through layers.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2194560"/>
            <a:ext cx="3931920" cy="91440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2194560"/>
            <a:ext cx="64008" cy="914400"/>
          </a:xfrm>
          <a:prstGeom prst="rect">
            <a:avLst/>
          </a:prstGeom>
          <a:solidFill>
            <a:srgbClr val="E94560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2860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280160" y="257860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(Adaptive Moment Estimation) with the learning rate specified by the DE candidate configuration.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3291840"/>
            <a:ext cx="3931920" cy="91440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02920" y="3291840"/>
            <a:ext cx="64008" cy="914400"/>
          </a:xfrm>
          <a:prstGeom prst="rect">
            <a:avLst/>
          </a:prstGeom>
          <a:solidFill>
            <a:srgbClr val="E94560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204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3832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Duration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80160" y="367588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epochs per fitness evaluation during DE search; 100 epochs for the final best-performing model.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1097280"/>
            <a:ext cx="3931920" cy="91440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1097280"/>
            <a:ext cx="64008" cy="914400"/>
          </a:xfrm>
          <a:prstGeom prst="rect">
            <a:avLst/>
          </a:prstGeom>
          <a:solidFill>
            <a:srgbClr val="E94560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11887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86400" y="148132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halts if validation loss does not improve for 10 consecutive epochs to prevent overfitting.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709160" y="2194560"/>
            <a:ext cx="3931920" cy="91440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09160" y="2194560"/>
            <a:ext cx="64008" cy="914400"/>
          </a:xfrm>
          <a:prstGeom prst="rect">
            <a:avLst/>
          </a:prstGeom>
          <a:solidFill>
            <a:srgbClr val="E94560"/>
          </a:solidFill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42316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86400" y="22860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486400" y="257860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 for normal vs. attack; Categorical Cross-Entropy for multi-class classification.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109728" y="4800600"/>
            <a:ext cx="9034272" cy="342900"/>
          </a:xfrm>
          <a:prstGeom prst="rect">
            <a:avLst/>
          </a:prstGeom>
          <a:solidFill>
            <a:srgbClr val="12122A"/>
          </a:solidFill>
        </p:spPr>
      </p:sp>
      <p:sp>
        <p:nvSpPr>
          <p:cNvPr id="31" name="Text 24"/>
          <p:cNvSpPr/>
          <p:nvPr/>
        </p:nvSpPr>
        <p:spPr>
          <a:xfrm>
            <a:off x="502920" y="4800600"/>
            <a:ext cx="7315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DE-Optimized DNN for Intrusion Detection  |  Florish Adekogbe  |  University of Lagos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8412480" y="4800600"/>
            <a:ext cx="457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 Metrics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97280" cy="36576"/>
          </a:xfrm>
          <a:prstGeom prst="rect">
            <a:avLst/>
          </a:prstGeom>
          <a:solidFill>
            <a:srgbClr val="E94560"/>
          </a:solidFill>
        </p:spPr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02920" y="1051560"/>
          <a:ext cx="8138160" cy="2450592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393192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(TP + TN) / (TP + TN + FP + FN)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classification correctness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/ (TP + FP)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of positive predictions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/ (TP + FN)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 of actual attacks detected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(P × R) / (P + R)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precision-recall measure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/ (FP + TN)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of false alarms generated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under ROC curve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Discrimination ability across thresholds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749040"/>
            <a:ext cx="8138160" cy="7315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379476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= correctly identified attacks    TN = correctly identified normal    FP = false alarms    FN = missed attacks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metrics use both macro-averaging (equal weight per class) and weighted-averaging (frequency-based weight).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09728" y="4800600"/>
            <a:ext cx="9034272" cy="342900"/>
          </a:xfrm>
          <a:prstGeom prst="rect">
            <a:avLst/>
          </a:prstGeom>
          <a:solidFill>
            <a:srgbClr val="D4CBC2"/>
          </a:solidFill>
        </p:spPr>
      </p:sp>
      <p:sp>
        <p:nvSpPr>
          <p:cNvPr id="10" name="Text 7"/>
          <p:cNvSpPr/>
          <p:nvPr/>
        </p:nvSpPr>
        <p:spPr>
          <a:xfrm>
            <a:off x="502920" y="4800600"/>
            <a:ext cx="7315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DE-Optimized DNN for Intrusion Detection  |  Florish Adekogbe  |  University of Lagos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412480" y="4800600"/>
            <a:ext cx="457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 &amp; Contributions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97280" cy="36576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5" name="Shape 3"/>
          <p:cNvSpPr/>
          <p:nvPr/>
        </p:nvSpPr>
        <p:spPr>
          <a:xfrm>
            <a:off x="502920" y="1051560"/>
            <a:ext cx="1920240" cy="141732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1920240" cy="457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7" name="Text 5"/>
          <p:cNvSpPr/>
          <p:nvPr/>
        </p:nvSpPr>
        <p:spPr>
          <a:xfrm>
            <a:off x="502920" y="123444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99%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051560"/>
            <a:ext cx="1920240" cy="141732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051560"/>
            <a:ext cx="1920240" cy="45720"/>
          </a:xfrm>
          <a:prstGeom prst="rect">
            <a:avLst/>
          </a:prstGeom>
          <a:solidFill>
            <a:srgbClr val="F0A500"/>
          </a:solidFill>
        </p:spPr>
      </p:sp>
      <p:sp>
        <p:nvSpPr>
          <p:cNvPr id="11" name="Text 9"/>
          <p:cNvSpPr/>
          <p:nvPr/>
        </p:nvSpPr>
        <p:spPr>
          <a:xfrm>
            <a:off x="2651760" y="123444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51760" y="18288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051560"/>
            <a:ext cx="1920240" cy="141732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051560"/>
            <a:ext cx="1920240" cy="4572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5" name="Text 13"/>
          <p:cNvSpPr/>
          <p:nvPr/>
        </p:nvSpPr>
        <p:spPr>
          <a:xfrm>
            <a:off x="4800600" y="123444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0.98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00600" y="18288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1051560"/>
            <a:ext cx="1920240" cy="1417320"/>
          </a:xfrm>
          <a:prstGeom prst="rect">
            <a:avLst/>
          </a:prstGeom>
          <a:solidFill>
            <a:srgbClr val="0F3460"/>
          </a:solidFill>
          <a:effectLst>
            <a:outerShdw blurRad="127000" dist="38100" dir="8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0" y="1051560"/>
            <a:ext cx="1920240" cy="45720"/>
          </a:xfrm>
          <a:prstGeom prst="rect">
            <a:avLst/>
          </a:prstGeom>
          <a:solidFill>
            <a:srgbClr val="F0A500"/>
          </a:solidFill>
        </p:spPr>
      </p:sp>
      <p:sp>
        <p:nvSpPr>
          <p:cNvPr id="19" name="Text 17"/>
          <p:cNvSpPr/>
          <p:nvPr/>
        </p:nvSpPr>
        <p:spPr>
          <a:xfrm>
            <a:off x="6949440" y="123444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0.99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949440" y="18288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27432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2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54680"/>
            <a:ext cx="228600" cy="2286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60120" y="310896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DE-DNN framework for comprehensive hyperparameter optimization in intrusion detection systems.</a:t>
            </a:r>
            <a:endParaRPr lang="en-US" sz="12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538728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60120" y="3493008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comparison against manually-tuned and ML baseline models on standardized benchmarks.</a:t>
            </a:r>
            <a:endParaRPr lang="en-US" sz="12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22776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60120" y="3877056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Dual-dataset validation on NSL-KDD and CICIDS2017 for robust performance assessment.</a:t>
            </a:r>
            <a:endParaRPr lang="en-US" sz="12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306824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60120" y="4261104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contribution: applying DE to deep learning specifically for security applications.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109728" y="4800600"/>
            <a:ext cx="9034272" cy="342900"/>
          </a:xfrm>
          <a:prstGeom prst="rect">
            <a:avLst/>
          </a:prstGeom>
          <a:solidFill>
            <a:srgbClr val="12122A"/>
          </a:solidFill>
        </p:spPr>
      </p:sp>
      <p:sp>
        <p:nvSpPr>
          <p:cNvPr id="31" name="Text 25"/>
          <p:cNvSpPr/>
          <p:nvPr/>
        </p:nvSpPr>
        <p:spPr>
          <a:xfrm>
            <a:off x="502920" y="4800600"/>
            <a:ext cx="7315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DE-Optimized DNN for Intrusion Detection  |  Florish Adekogbe  |  University of Lagos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8412480" y="4800600"/>
            <a:ext cx="457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97280" cy="36576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5" name="Shape 3"/>
          <p:cNvSpPr/>
          <p:nvPr/>
        </p:nvSpPr>
        <p:spPr>
          <a:xfrm>
            <a:off x="502920" y="1051560"/>
            <a:ext cx="3931920" cy="32918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3931920" cy="45720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7" name="Text 5"/>
          <p:cNvSpPr/>
          <p:nvPr/>
        </p:nvSpPr>
        <p:spPr>
          <a:xfrm>
            <a:off x="502920" y="105156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691640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Network-based anomaly detection approach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7627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130552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(normal vs. attack)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1518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569464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 (specific attack types)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054096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008376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with offline batch processing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93008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447288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 and CICIDS2017 benchmark datasets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709160" y="1051560"/>
            <a:ext cx="3931920" cy="32918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709160" y="1051560"/>
            <a:ext cx="3931920" cy="4572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20" name="Text 13"/>
          <p:cNvSpPr/>
          <p:nvPr/>
        </p:nvSpPr>
        <p:spPr>
          <a:xfrm>
            <a:off x="4709160" y="105156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03520" y="1691640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optimization is computationally intensive</a:t>
            </a:r>
            <a:endParaRPr lang="en-US" sz="1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76272"/>
            <a:ext cx="228600" cy="228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303520" y="2130552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 may not reflect real-world diversity</a:t>
            </a:r>
            <a:endParaRPr lang="en-US" sz="12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615184"/>
            <a:ext cx="228600" cy="2286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303520" y="2569464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streaming detection addressed</a:t>
            </a:r>
            <a:endParaRPr lang="en-US" sz="12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054096"/>
            <a:ext cx="228600" cy="2286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303520" y="3008376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labeled training data (supervised only)</a:t>
            </a:r>
            <a:endParaRPr lang="en-US" sz="12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493008"/>
            <a:ext cx="228600" cy="2286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303520" y="3447288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is outside research scope</a:t>
            </a:r>
            <a:endParaRPr lang="en-US" sz="1200" dirty="0"/>
          </a:p>
        </p:txBody>
      </p:sp>
      <p:sp>
        <p:nvSpPr>
          <p:cNvPr id="31" name="Shape 19"/>
          <p:cNvSpPr/>
          <p:nvPr/>
        </p:nvSpPr>
        <p:spPr>
          <a:xfrm>
            <a:off x="109728" y="4800600"/>
            <a:ext cx="9034272" cy="342900"/>
          </a:xfrm>
          <a:prstGeom prst="rect">
            <a:avLst/>
          </a:prstGeom>
          <a:solidFill>
            <a:srgbClr val="D4CBC2"/>
          </a:solidFill>
        </p:spPr>
      </p:sp>
      <p:sp>
        <p:nvSpPr>
          <p:cNvPr id="32" name="Text 20"/>
          <p:cNvSpPr/>
          <p:nvPr/>
        </p:nvSpPr>
        <p:spPr>
          <a:xfrm>
            <a:off x="502920" y="4800600"/>
            <a:ext cx="7315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DE-Optimized DNN for Intrusion Detection  |  Florish Adekogbe  |  University of Lagos</a:t>
            </a:r>
            <a:endParaRPr lang="en-US" sz="800" dirty="0"/>
          </a:p>
        </p:txBody>
      </p:sp>
      <p:sp>
        <p:nvSpPr>
          <p:cNvPr id="33" name="Text 21"/>
          <p:cNvSpPr/>
          <p:nvPr/>
        </p:nvSpPr>
        <p:spPr>
          <a:xfrm>
            <a:off x="8412480" y="4800600"/>
            <a:ext cx="4572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E94560">
              <a:alpha val="8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E94560">
              <a:alpha val="92000"/>
            </a:srgbClr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9144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8" name="Text 5"/>
          <p:cNvSpPr/>
          <p:nvPr/>
        </p:nvSpPr>
        <p:spPr>
          <a:xfrm>
            <a:off x="640080" y="141732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research proposes a Differential Evolution-optimized Deep Neural Network framework for intrusion detection that systematically searches for optimal hyperparameter configurations — aiming to achieve superior detection accuracy with minimal false positives across NSL-KDD and CICIDS2017 benchmarks.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8036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8346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provides automated, global hyperparameter optimization without gradient information.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6440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321868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optimization (DE outer loop + DNN inner loop) enables comprehensive search.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4845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3602736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performance: &gt;99% accuracy, &lt;1% FPR, &gt;0.98 F1-score on benchmark datasets.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640080" y="3977640"/>
            <a:ext cx="1828800" cy="36576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16" name="Text 10"/>
          <p:cNvSpPr/>
          <p:nvPr/>
        </p:nvSpPr>
        <p:spPr>
          <a:xfrm>
            <a:off x="640080" y="416052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7" name="Text 11"/>
          <p:cNvSpPr/>
          <p:nvPr/>
        </p:nvSpPr>
        <p:spPr>
          <a:xfrm>
            <a:off x="640080" y="45720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Florish Adekogbe  |  190805025  |  Supervisor: Dr. B. A. Sawyerr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94560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9859</Words>
  <Application>WPS Writer</Application>
  <PresentationFormat>On-screen Show (16:9)</PresentationFormat>
  <Paragraphs>664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DE-Optimized DNN for Intrusion Detection System</dc:title>
  <dc:creator>Florish Adekogbe</dc:creator>
  <dc:subject>PptxGenJS Presentation</dc:subject>
  <cp:lastModifiedBy>google1583455410</cp:lastModifiedBy>
  <cp:revision>3</cp:revision>
  <dcterms:created xsi:type="dcterms:W3CDTF">2026-04-02T16:07:07Z</dcterms:created>
  <dcterms:modified xsi:type="dcterms:W3CDTF">2026-04-02T16:07:07Z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B646A3E88265F41AEFBFCD692BE4364A_42</vt:lpwstr>
  </property>
  <property fmtid="{D5CDD505-2E9C-101B-9397-08002B2CF9AE}" pid="3" name="KSOProductBuildVer">
    <vt:lpwstr>1033-12.1.23155.23155</vt:lpwstr>
  </property>
</Properties>
</file>